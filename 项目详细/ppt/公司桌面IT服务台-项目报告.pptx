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293" y="-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项目报告 · 2026.07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全栈开发 · AI智能客服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公司桌面IT服务台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BBBB"/>
                </a:solidFill>
                <a:latin typeface="Microsoft YaHei"/>
              </a:defRPr>
            </a:pPr>
            <a:r>
              <a:t>AI智能客服 + RAG知识库 + 三层会话记忆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  <a:latin typeface="Microsoft YaHei"/>
              </a:defRPr>
            </a:pPr>
            <a:r>
              <a:t>FastAPI  ·  Vue 3  ·  ChromaDB  ·  WebSocket  ·  Docker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1033272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公司桌面IT服务台 · AI智能版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01  ·  项目背景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业务痛点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icrosoft YaHei"/>
              </a:defRPr>
            </a:pPr>
            <a:r>
              <a:t>为什么需要AI智能客服？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29184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</a:defRPr>
            </a:pPr>
            <a:r>
              <a:t>响应延迟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Microsoft YaHei"/>
              </a:defRPr>
            </a:pPr>
            <a:r>
              <a:t>用户提交工单后需等待客服响应，首次回复延迟平均15分钟+，高峰期更长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9260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2926080"/>
            <a:ext cx="329184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</a:defRPr>
            </a:pPr>
            <a:r>
              <a:t>重复劳动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Microsoft YaHei"/>
              </a:defRPr>
            </a:pPr>
            <a:r>
              <a:t>常见问题（蓝屏、密码重置、打印机故障）重复率高达60%+，客服重复解答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9260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926080"/>
            <a:ext cx="329184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</a:defRPr>
            </a:pPr>
            <a:r>
              <a:t>知识流失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404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Microsoft YaHei"/>
              </a:defRPr>
            </a:pPr>
            <a:r>
              <a:t>已解决的问题无法复用，同类问题反复处理，缺乏知识库沉淀机制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02  ·  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整体设计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四端分离 + AI中台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用户端 :5173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服务台 · AI客服 · 工单 · 聊天室 · 评价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106984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客服端 :5174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工作台 · 工单池 · 实时聊天 · SLA管理 · 转派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统计端 :5176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数据概览 · 趋势分析 · 绩效排名 · 报表导出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166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管理端 :5175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1663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用户管理 · 权限控制 · 分类配置 · 审计日志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00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FA7"/>
                </a:solidFill>
                <a:latin typeface="Microsoft YaHei"/>
              </a:defRPr>
            </a:pPr>
            <a:r>
              <a:t>AI中台 :8000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RAG管道 · 向量检索 · LLM生成 · 会话记忆 · 知识库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03  ·  AI核心能力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RAG检索增强生成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icrosoft YaHei"/>
              </a:defRPr>
            </a:pPr>
            <a:r>
              <a:t>AI智能客服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25252"/>
                </a:solidFill>
                <a:latin typeface="Microsoft YaHei"/>
              </a:defRPr>
            </a:pPr>
            <a:r>
              <a:t>基于已解决工单和FAQ文档知识库，智能检索相关解决方案，自动生成专业回答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2286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228600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知识库文档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2FA7"/>
                </a:solidFill>
                <a:latin typeface="Microsoft YaHei"/>
              </a:defRPr>
            </a:pPr>
            <a:r>
              <a:t>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常见问题FAQ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4114800"/>
            <a:ext cx="2286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4114800"/>
            <a:ext cx="228600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检索精度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2FA7"/>
                </a:solidFill>
                <a:latin typeface="Microsoft YaHei"/>
              </a:defRPr>
            </a:pPr>
            <a:r>
              <a:t>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相似度阈值</a:t>
            </a:r>
          </a:p>
        </p:txBody>
      </p:sp>
      <p:pic>
        <p:nvPicPr>
          <p:cNvPr id="16" name="Picture 15" descr="03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AI核心能力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04  ·  记忆系统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三层会话记忆架构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icrosoft YaHei"/>
              </a:defRPr>
            </a:pPr>
            <a:r>
              <a:t>精准对话，永不失忆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32918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291840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滑动窗口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0A0A"/>
                </a:solidFill>
                <a:latin typeface="Microsoft YaHei"/>
              </a:defRPr>
            </a:pPr>
            <a:r>
              <a:t>5轮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Microsoft YaHei"/>
              </a:defRPr>
            </a:pPr>
            <a:r>
              <a:t>最近5轮原始对话精确回放，确保上下文连贯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926080"/>
            <a:ext cx="32918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926080"/>
            <a:ext cx="3291840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会话摘要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0A0A"/>
                </a:solidFill>
                <a:latin typeface="Microsoft YaHei"/>
              </a:defRPr>
            </a:pPr>
            <a:r>
              <a:t>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846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Microsoft YaHei"/>
              </a:defRPr>
            </a:pPr>
            <a:r>
              <a:t>旧对话LLM自动浓缩为摘要，防止长对话信息丢失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926080"/>
            <a:ext cx="32918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926080"/>
            <a:ext cx="3291840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会话元数据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A0A0A"/>
                </a:solidFill>
                <a:latin typeface="Microsoft YaHei"/>
              </a:defRPr>
            </a:pPr>
            <a:r>
              <a:t>4D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46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Microsoft YaHei"/>
              </a:defRPr>
            </a:pPr>
            <a:r>
              <a:t>设备型号/操作系统/问题分类/场景，每3轮自动提取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Redis持久化 · TTL 30分钟 · 内存fallback双写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记忆系统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05  ·  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核心技术选型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icrosoft YaHei"/>
              </a:defRPr>
            </a:pPr>
            <a:r>
              <a:t>全栈技术方案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5603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256032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FastAPI + async SQLAlchemy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异步架构 · SQLite/MySQL · JWT认证 · APScheduler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926080"/>
            <a:ext cx="25603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39" y="2926080"/>
            <a:ext cx="256032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3200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Vue 3 + Element Plus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389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Pinia状态管理 · ECharts图表 · WebSocket实时通信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2926080"/>
            <a:ext cx="25603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2926080"/>
            <a:ext cx="256032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RAG + ChromaDB +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BGE嵌入 · 向量检索 · DeepSeek/Qwen · SSE流式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926080"/>
            <a:ext cx="25603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2926080"/>
            <a:ext cx="256032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59" y="3200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DevOps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"/>
              </a:defRPr>
            </a:pPr>
            <a:r>
              <a:t>Docker + GitHub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4389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CI/CD · 73个测试 · Redis缓存 · 健康检查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06  ·  用户服务台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用户端 · :5173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AI智能客服 + 一键转人工</a:t>
            </a:r>
          </a:p>
        </p:txBody>
      </p:sp>
      <p:pic>
        <p:nvPicPr>
          <p:cNvPr id="5" name="Picture 4" descr="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106984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用户服务台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07  ·  ITSM客服端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工单全生命周期管理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icrosoft YaHei"/>
              </a:defRPr>
            </a:pPr>
            <a:r>
              <a:t>ITSM客服端 · :5174</a:t>
            </a:r>
          </a:p>
        </p:txBody>
      </p:sp>
      <p:pic>
        <p:nvPicPr>
          <p:cNvPr id="5" name="Picture 4" descr="05-itsm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3383280" cy="2560320"/>
          </a:xfrm>
          <a:prstGeom prst="rect">
            <a:avLst/>
          </a:prstGeom>
        </p:spPr>
      </p:pic>
      <p:pic>
        <p:nvPicPr>
          <p:cNvPr id="6" name="Picture 5" descr="06-itsm-ac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926080"/>
            <a:ext cx="3383280" cy="2560320"/>
          </a:xfrm>
          <a:prstGeom prst="rect">
            <a:avLst/>
          </a:prstGeom>
        </p:spPr>
      </p:pic>
      <p:pic>
        <p:nvPicPr>
          <p:cNvPr id="7" name="Picture 6" descr="07-itsm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926080"/>
            <a:ext cx="338328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四象限看板 · 状态流转 · SLA管理 · 实时通知 · 批量处理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ITSM客服端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08  ·  统计与管理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数据分析 + 系统管理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icrosoft YaHei"/>
              </a:defRPr>
            </a:pPr>
            <a:r>
              <a:t>OPS统计端 + 后台管理端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OPS统计端 · :5176</a:t>
            </a:r>
          </a:p>
        </p:txBody>
      </p:sp>
      <p:pic>
        <p:nvPicPr>
          <p:cNvPr id="6" name="Picture 5" descr="08-op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50292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后台管理端 · :5175</a:t>
            </a:r>
          </a:p>
        </p:txBody>
      </p:sp>
      <p:pic>
        <p:nvPicPr>
          <p:cNvPr id="8" name="Picture 7" descr="10-admin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0"/>
            <a:ext cx="50292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统计与管理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A0D0"/>
                </a:solidFill>
                <a:latin typeface="Microsoft YaHei"/>
              </a:defRPr>
            </a:pPr>
            <a:r>
              <a:t>09  ·  关键数据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项目成果量化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核心指标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560320" cy="2560320"/>
          </a:xfrm>
          <a:prstGeom prst="rect">
            <a:avLst/>
          </a:prstGeom>
          <a:solidFill>
            <a:srgbClr val="00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D0"/>
                </a:solidFill>
                <a:latin typeface="Microsoft YaHei"/>
              </a:defRPr>
            </a:pPr>
            <a:r>
              <a:t>API端点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D0"/>
                </a:solidFill>
                <a:latin typeface="Microsoft YaHei"/>
              </a:defRPr>
            </a:pPr>
            <a:r>
              <a:t>RESTful接口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2926080"/>
            <a:ext cx="2560320" cy="2560320"/>
          </a:xfrm>
          <a:prstGeom prst="rect">
            <a:avLst/>
          </a:prstGeom>
          <a:solidFill>
            <a:srgbClr val="00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59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D0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D0"/>
                </a:solidFill>
                <a:latin typeface="Microsoft YaHei"/>
              </a:defRPr>
            </a:pPr>
            <a:r>
              <a:t>100%通过率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2926080"/>
            <a:ext cx="2560320" cy="2560320"/>
          </a:xfrm>
          <a:prstGeom prst="rect">
            <a:avLst/>
          </a:prstGeom>
          <a:solidFill>
            <a:srgbClr val="00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79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D0"/>
                </a:solidFill>
                <a:latin typeface="Microsoft YaHei"/>
              </a:defRPr>
            </a:pPr>
            <a:r>
              <a:t>前端应用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3657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D0"/>
                </a:solidFill>
                <a:latin typeface="Microsoft YaHei"/>
              </a:defRPr>
            </a:pPr>
            <a:r>
              <a:t>Vue 3独立应用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926080"/>
            <a:ext cx="2560320" cy="2560320"/>
          </a:xfrm>
          <a:prstGeom prst="rect">
            <a:avLst/>
          </a:prstGeom>
          <a:solidFill>
            <a:srgbClr val="00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D0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3657600"/>
            <a:ext cx="25603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100</a:t>
            </a:r>
            <a:r>
              <a:rPr lang="en-US" altLang="zh-CN" dirty="0"/>
              <a:t>+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372600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A0D0"/>
                </a:solidFill>
                <a:latin typeface="Microsoft YaHei"/>
              </a:defRPr>
            </a:pPr>
            <a:r>
              <a:t>FAQ文档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A0D0"/>
                </a:solidFill>
                <a:latin typeface="Microsoft YaHei"/>
              </a:defRPr>
            </a:pPr>
            <a:r>
              <a:t>关键数据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A0D0"/>
                </a:solidFill>
                <a:latin typeface="Microsoft YaHe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10  ·  性能优化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系统优化措施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A0A0A"/>
                </a:solidFill>
                <a:latin typeface="Microsoft YaHei"/>
              </a:defRPr>
            </a:pPr>
            <a:r>
              <a:t>性能与稳定性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0116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201168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25252"/>
                </a:solidFill>
                <a:latin typeface="Microsoft YaHei"/>
              </a:defRPr>
            </a:pPr>
            <a:r>
              <a:t>性能索引 · N+1修复 · 批量查询优化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926080"/>
            <a:ext cx="20116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2926080"/>
            <a:ext cx="201168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8404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25252"/>
                </a:solidFill>
                <a:latin typeface="Microsoft YaHei"/>
              </a:defRPr>
            </a:pPr>
            <a:r>
              <a:t>Redis双写 · 分类缓存 · 权限缓存60s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926080"/>
            <a:ext cx="20116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0" y="2926080"/>
            <a:ext cx="201168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并发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8404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25252"/>
                </a:solidFill>
                <a:latin typeface="Microsoft YaHei"/>
              </a:defRPr>
            </a:pPr>
            <a:r>
              <a:t>批量接口100张 · 限流300次/分 · 自动重试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926080"/>
            <a:ext cx="20116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2360" y="2926080"/>
            <a:ext cx="201168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8404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25252"/>
                </a:solidFill>
                <a:latin typeface="Microsoft YaHei"/>
              </a:defRPr>
            </a:pPr>
            <a:r>
              <a:t>搜索防抖 · 智能滚动 · 429去重提示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926080"/>
            <a:ext cx="20116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92640" y="2926080"/>
            <a:ext cx="2011680" cy="5486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0" y="3200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8404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25252"/>
                </a:solidFill>
                <a:latin typeface="Microsoft YaHei"/>
              </a:defRPr>
            </a:pPr>
            <a:r>
              <a:t>RAG去重 · 反幻觉过滤 · 流式输出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11  · 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IT服务台</a:t>
            </a:r>
            <a:br/>
            <a:r>
              <a:t>AI赋能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Microsoft YaHei"/>
              </a:defRPr>
            </a:pPr>
            <a:r>
              <a:t>从传统工单系统升级为AI智能客服平台，实现问题自动解答、知识库沉淀、多轮精准对话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228600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</a:defRPr>
            </a:pPr>
            <a: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  <a:latin typeface="Microsoft YaHei"/>
              </a:defRPr>
            </a:pPr>
            <a:r>
              <a:t>检索增强生成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828800"/>
            <a:ext cx="228600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</a:defRPr>
            </a:pPr>
            <a: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  <a:latin typeface="Microsoft YaHei"/>
              </a:defRPr>
            </a:pPr>
            <a:r>
              <a:t>三层会话记忆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657600"/>
            <a:ext cx="228600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</a:defRPr>
            </a:pPr>
            <a:r>
              <a:t>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  <a:latin typeface="Microsoft YaHei"/>
              </a:defRPr>
            </a:pPr>
            <a:r>
              <a:t>流式输出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657600"/>
            <a:ext cx="228600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FA7"/>
                </a:solidFill>
                <a:latin typeface="Microsoft YaHei"/>
              </a:defRPr>
            </a:pPr>
            <a:r>
              <a:t>73/73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389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  <a:latin typeface="Microsoft YaHei"/>
              </a:defRPr>
            </a:pPr>
            <a:r>
              <a:t>测试全过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470</Words>
  <Application>Microsoft Office PowerPoint</Application>
  <PresentationFormat>宽屏</PresentationFormat>
  <Paragraphs>141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忆晗 张</cp:lastModifiedBy>
  <cp:revision>2</cp:revision>
  <dcterms:created xsi:type="dcterms:W3CDTF">2013-01-27T09:14:16Z</dcterms:created>
  <dcterms:modified xsi:type="dcterms:W3CDTF">2026-07-28T10:26:16Z</dcterms:modified>
  <cp:category/>
</cp:coreProperties>
</file>